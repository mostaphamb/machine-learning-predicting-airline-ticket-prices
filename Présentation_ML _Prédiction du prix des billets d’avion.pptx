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4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Prix moyen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80C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032-4BE7-BD26-A2EC7C2FE411}"/>
              </c:ext>
            </c:extLst>
          </c:dPt>
          <c:dPt>
            <c:idx val="1"/>
            <c:bubble3D val="0"/>
            <c:spPr>
              <a:solidFill>
                <a:srgbClr val="1A4A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032-4BE7-BD26-A2EC7C2FE411}"/>
              </c:ext>
            </c:extLst>
          </c:dPt>
          <c:dPt>
            <c:idx val="2"/>
            <c:bubble3D val="0"/>
            <c:spPr>
              <a:solidFill>
                <a:srgbClr val="F488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032-4BE7-BD26-A2EC7C2FE411}"/>
              </c:ext>
            </c:extLst>
          </c:dPt>
          <c:dPt>
            <c:idx val="3"/>
            <c:bubble3D val="0"/>
            <c:spPr>
              <a:solidFill>
                <a:srgbClr val="1A8A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032-4BE7-BD26-A2EC7C2FE411}"/>
              </c:ext>
            </c:extLst>
          </c:dPt>
          <c:dPt>
            <c:idx val="4"/>
            <c:bubble3D val="0"/>
            <c:spPr>
              <a:solidFill>
                <a:srgbClr val="0D1F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032-4BE7-BD26-A2EC7C2FE411}"/>
              </c:ext>
            </c:extLst>
          </c:dPt>
          <c:dPt>
            <c:idx val="5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032-4BE7-BD26-A2EC7C2FE411}"/>
              </c:ext>
            </c:extLst>
          </c:dPt>
          <c:cat>
            <c:strRef>
              <c:f>Sheet1!$A$2:$A$7</c:f>
              <c:strCache>
                <c:ptCount val="6"/>
                <c:pt idx="0">
                  <c:v>AirAsia</c:v>
                </c:pt>
                <c:pt idx="1">
                  <c:v>Indigo</c:v>
                </c:pt>
                <c:pt idx="2">
                  <c:v>SpiceJet</c:v>
                </c:pt>
                <c:pt idx="3">
                  <c:v>Vistara</c:v>
                </c:pt>
                <c:pt idx="4">
                  <c:v>Air India</c:v>
                </c:pt>
                <c:pt idx="5">
                  <c:v>GO FIRST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5200</c:v>
                </c:pt>
                <c:pt idx="1">
                  <c:v>5400</c:v>
                </c:pt>
                <c:pt idx="2">
                  <c:v>5100</c:v>
                </c:pt>
                <c:pt idx="3">
                  <c:v>9800</c:v>
                </c:pt>
                <c:pt idx="4">
                  <c:v>9500</c:v>
                </c:pt>
                <c:pt idx="5">
                  <c:v>6300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032-4BE7-BD26-A2EC7C2FE4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Prix moyen (INR)</c:v>
                </c:pt>
              </c:strCache>
            </c:strRef>
          </c:tx>
          <c:spPr>
            <a:solidFill>
              <a:srgbClr val="F4882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&lt; 2h</c:v>
                </c:pt>
                <c:pt idx="1">
                  <c:v>2-4h</c:v>
                </c:pt>
                <c:pt idx="2">
                  <c:v>4-6h</c:v>
                </c:pt>
                <c:pt idx="3">
                  <c:v>6-10h</c:v>
                </c:pt>
                <c:pt idx="4">
                  <c:v>&gt; 10h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4500</c:v>
                </c:pt>
                <c:pt idx="1">
                  <c:v>6200</c:v>
                </c:pt>
                <c:pt idx="2">
                  <c:v>8100</c:v>
                </c:pt>
                <c:pt idx="3">
                  <c:v>10500</c:v>
                </c:pt>
                <c:pt idx="4">
                  <c:v>14300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F3-454C-BE98-238D5F0A02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2F80C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MAE</c:v>
                </c:pt>
                <c:pt idx="1">
                  <c:v>RMSE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1083</c:v>
                </c:pt>
                <c:pt idx="1">
                  <c:v>2786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5E-433A-9AB0-8825F3F452E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F4882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MAE</c:v>
                </c:pt>
                <c:pt idx="1">
                  <c:v>RMSE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2332</c:v>
                </c:pt>
                <c:pt idx="1">
                  <c:v>4109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35E-433A-9AB0-8825F3F452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5941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882A"/>
          </a:solidFill>
          <a:ln w="12700">
            <a:solidFill>
              <a:srgbClr val="F488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-548640"/>
            <a:ext cx="2194560" cy="2194560"/>
          </a:xfrm>
          <a:prstGeom prst="ellipse">
            <a:avLst/>
          </a:prstGeom>
          <a:solidFill>
            <a:srgbClr val="1A4A7A">
              <a:alpha val="30000"/>
            </a:srgbClr>
          </a:solidFill>
          <a:ln w="12700">
            <a:solidFill>
              <a:srgbClr val="1A4A7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474720"/>
            <a:ext cx="2560320" cy="2560320"/>
          </a:xfrm>
          <a:prstGeom prst="ellipse">
            <a:avLst/>
          </a:prstGeom>
          <a:solidFill>
            <a:srgbClr val="2F80C5">
              <a:alpha val="20000"/>
            </a:srgbClr>
          </a:solidFill>
          <a:ln w="12700">
            <a:solidFill>
              <a:srgbClr val="2F80C5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743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882A"/>
                </a:solidFill>
              </a:rPr>
              <a:t>✈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882A"/>
                </a:solidFill>
              </a:rPr>
              <a:t>MACHINE LEARNING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Prédiction du Prix</a:t>
            </a:r>
            <a:endParaRPr lang="en-US" sz="4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des Billets d'Avion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20040" y="3429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F4FD"/>
                </a:solidFill>
              </a:rPr>
              <a:t>Analyse exploratoire · Tests statistiques · Modélisation ML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645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300 000+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73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</a:rPr>
              <a:t>Réservations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06040" y="4645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06040" y="4873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</a:rPr>
              <a:t>Variables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4645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4873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</a:rPr>
              <a:t>Compagnies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03720" y="4645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&lt; 15 €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03720" y="4873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</a:rPr>
              <a:t>Objectif MAE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📊  Dataset &amp; Analyse Exploratoire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023360" cy="35661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7A"/>
                </a:solidFill>
              </a:rPr>
              <a:t>Vue d'ensemble du dataset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600200"/>
            <a:ext cx="3840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367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80"/>
                </a:solidFill>
              </a:rPr>
              <a:t>Entrées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16367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5"/>
                </a:solidFill>
              </a:rPr>
              <a:t>300 153 réservations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020824"/>
            <a:ext cx="3840480" cy="347472"/>
          </a:xfrm>
          <a:prstGeom prst="rect">
            <a:avLst/>
          </a:prstGeom>
          <a:solidFill>
            <a:srgbClr val="EBF2FA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57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80"/>
                </a:solidFill>
              </a:rPr>
              <a:t>Colonnes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5"/>
                </a:solidFill>
              </a:rPr>
              <a:t>12 variables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441448"/>
            <a:ext cx="3840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780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80"/>
                </a:solidFill>
              </a:rPr>
              <a:t>Cible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24780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5"/>
                </a:solidFill>
              </a:rPr>
              <a:t>price (INR)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862072"/>
            <a:ext cx="3840480" cy="347472"/>
          </a:xfrm>
          <a:prstGeom prst="rect">
            <a:avLst/>
          </a:prstGeom>
          <a:solidFill>
            <a:srgbClr val="EBF2FA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8986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80"/>
                </a:solidFill>
              </a:rPr>
              <a:t>Discrètes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2898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5"/>
                </a:solidFill>
              </a:rPr>
              <a:t>days_left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282696"/>
            <a:ext cx="3840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19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80"/>
                </a:solidFill>
              </a:rPr>
              <a:t>Continues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3319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5"/>
                </a:solidFill>
              </a:rPr>
              <a:t>duration, price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703320"/>
            <a:ext cx="3840480" cy="347472"/>
          </a:xfrm>
          <a:prstGeom prst="rect">
            <a:avLst/>
          </a:prstGeom>
          <a:solidFill>
            <a:srgbClr val="EBF2FA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739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80"/>
                </a:solidFill>
              </a:rPr>
              <a:t>Catégorielles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03120" y="37398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5"/>
                </a:solidFill>
              </a:rPr>
              <a:t>airline, city, class…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4123944"/>
            <a:ext cx="3840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160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80"/>
                </a:solidFill>
              </a:rPr>
              <a:t>Valeurs manq.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0312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5"/>
                </a:solidFill>
              </a:rPr>
              <a:t>Aucune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1097280"/>
            <a:ext cx="4251960" cy="1600200"/>
          </a:xfrm>
          <a:prstGeom prst="rect">
            <a:avLst/>
          </a:prstGeom>
          <a:solidFill>
            <a:srgbClr val="E8F4FD"/>
          </a:solidFill>
          <a:ln w="12700">
            <a:solidFill>
              <a:srgbClr val="2F80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7A"/>
                </a:solidFill>
              </a:rPr>
              <a:t>🏙  Villes (6 sources &amp; destinations)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09160" y="15087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5"/>
                </a:solidFill>
              </a:rPr>
              <a:t>Delhi · Mumbai · Bangalore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45"/>
                </a:solidFill>
              </a:rPr>
              <a:t>Kolkata · Hyderabad · Chennai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9160" y="2148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7A"/>
                </a:solidFill>
              </a:rPr>
              <a:t>✈  Compagnies aériennes (6)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9160" y="24231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5"/>
                </a:solidFill>
              </a:rPr>
              <a:t>SpiceJet · AirAsia · Vistara · GO_FIRST · Indigo · Air_India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2834640"/>
            <a:ext cx="4251960" cy="1005840"/>
          </a:xfrm>
          <a:prstGeom prst="rect">
            <a:avLst/>
          </a:prstGeom>
          <a:solidFill>
            <a:srgbClr val="FFF8F0"/>
          </a:solidFill>
          <a:ln w="12700">
            <a:solidFill>
              <a:srgbClr val="F488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9077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882A"/>
                </a:solidFill>
              </a:rPr>
              <a:t>🕐  Horaires de départ / arrivée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09160" y="3200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5"/>
                </a:solidFill>
              </a:rPr>
              <a:t>Early Morning · Morning · Afternoon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B45"/>
                </a:solidFill>
              </a:rPr>
              <a:t>Evening · Night · Late Night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3977640"/>
            <a:ext cx="4251960" cy="685800"/>
          </a:xfrm>
          <a:prstGeom prst="rect">
            <a:avLst/>
          </a:prstGeom>
          <a:solidFill>
            <a:srgbClr val="F0FFF5"/>
          </a:solidFill>
          <a:ln w="12700">
            <a:solidFill>
              <a:srgbClr val="1A8A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40416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8A5A"/>
                </a:solidFill>
              </a:rPr>
              <a:t>🔀  Escales : zero / one / two_or_more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09160" y="4343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5"/>
                </a:solidFill>
              </a:rPr>
              <a:t>Classe : Economy &amp; Business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🔬  Tests Statistiques &amp; Hypothèses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0690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4069080" cy="502920"/>
          </a:xfrm>
          <a:prstGeom prst="rect">
            <a:avLst/>
          </a:prstGeom>
          <a:solidFill>
            <a:srgbClr val="2F80C5"/>
          </a:solidFill>
          <a:ln w="12700">
            <a:solidFill>
              <a:srgbClr val="2F80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3385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ANOVA — Compagnie vs Prix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5577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5"/>
                </a:solidFill>
              </a:rPr>
              <a:t>Hypothèses :
</a:t>
            </a:r>
            <a:r>
              <a:rPr lang="en-US" sz="1100" dirty="0">
                <a:solidFill>
                  <a:srgbClr val="1A2B45"/>
                </a:solidFill>
              </a:rPr>
              <a:t>H₀ : Aucune relation compagnie ↔ prix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45"/>
                </a:solidFill>
              </a:rPr>
              <a:t>H₁ : Relation significative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B45"/>
                </a:solidFill>
              </a:rPr>
              <a:t>Résultat :
</a:t>
            </a:r>
            <a:r>
              <a:rPr lang="en-US" sz="1100" b="1" dirty="0">
                <a:solidFill>
                  <a:srgbClr val="1A8A5A"/>
                </a:solidFill>
              </a:rPr>
              <a:t>p-value = 0.000 (&lt; 0.05)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8A5A"/>
                </a:solidFill>
              </a:rPr>
              <a:t>✅ H₀ </a:t>
            </a:r>
            <a:r>
              <a:rPr lang="en-US" sz="1100" b="1" dirty="0" err="1">
                <a:solidFill>
                  <a:srgbClr val="1A8A5A"/>
                </a:solidFill>
              </a:rPr>
              <a:t>rejetée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B45"/>
                </a:solidFill>
              </a:rPr>
              <a:t>Conclusion 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371557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B45"/>
                </a:solidFill>
              </a:rPr>
              <a:t>La compagnie aérienne a un impact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A2B45"/>
                </a:solidFill>
              </a:rPr>
              <a:t>statistiquement significatif sur le prix.</a:t>
            </a:r>
            <a:endParaRPr lang="en-US" sz="11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57200" y="3794760"/>
          <a:ext cx="3657600" cy="123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4754880" y="1097280"/>
            <a:ext cx="40690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97280"/>
            <a:ext cx="4069080" cy="502920"/>
          </a:xfrm>
          <a:prstGeom prst="rect">
            <a:avLst/>
          </a:prstGeom>
          <a:solidFill>
            <a:srgbClr val="F4882A"/>
          </a:solidFill>
          <a:ln w="12700">
            <a:solidFill>
              <a:srgbClr val="F488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92040" y="113385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Pearson — Durée vs Prix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92040" y="186357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5"/>
                </a:solidFill>
              </a:rPr>
              <a:t>Hypothèses :
</a:t>
            </a:r>
            <a:r>
              <a:rPr lang="en-US" sz="1100" dirty="0">
                <a:solidFill>
                  <a:srgbClr val="1A2B45"/>
                </a:solidFill>
              </a:rPr>
              <a:t>H₀ : Aucune corrélation durée ↔ prix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45"/>
                </a:solidFill>
              </a:rPr>
              <a:t>H₁ : Corrélation linéaire significative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B45"/>
                </a:solidFill>
              </a:rPr>
              <a:t>Résultat :
</a:t>
            </a:r>
            <a:r>
              <a:rPr lang="en-US" sz="1100" b="1" dirty="0">
                <a:solidFill>
                  <a:srgbClr val="1A8A5A"/>
                </a:solidFill>
              </a:rPr>
              <a:t>p-value = 0.000 (&lt; 0.05)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8A5A"/>
                </a:solidFill>
              </a:rPr>
              <a:t>r = 0.288  ✅ H₀ </a:t>
            </a:r>
            <a:r>
              <a:rPr lang="en-US" sz="1100" b="1" dirty="0" err="1">
                <a:solidFill>
                  <a:srgbClr val="1A8A5A"/>
                </a:solidFill>
              </a:rPr>
              <a:t>rejetée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B45"/>
                </a:solidFill>
              </a:rPr>
              <a:t>Conclusion 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92040" y="3371557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B45"/>
                </a:solidFill>
              </a:rPr>
              <a:t>Corrélation positive modérée :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A2B45"/>
                </a:solidFill>
              </a:rPr>
              <a:t>les vols plus longs coûtent davantage.</a:t>
            </a:r>
            <a:endParaRPr lang="en-US" sz="1100" dirty="0"/>
          </a:p>
        </p:txBody>
      </p:sp>
      <p:graphicFrame>
        <p:nvGraphicFramePr>
          <p:cNvPr id="15" name="Chart 1"/>
          <p:cNvGraphicFramePr/>
          <p:nvPr/>
        </p:nvGraphicFramePr>
        <p:xfrm>
          <a:off x="4800600" y="3794760"/>
          <a:ext cx="3840480" cy="123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⚙️  Pipeline de Preprocessing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920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1920240" cy="457200"/>
          </a:xfrm>
          <a:prstGeom prst="rect">
            <a:avLst/>
          </a:prstGeom>
          <a:solidFill>
            <a:srgbClr val="2F80C5"/>
          </a:solidFill>
          <a:ln w="12700">
            <a:solidFill>
              <a:srgbClr val="2F80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3258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80C5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5"/>
                </a:solidFill>
              </a:rPr>
              <a:t>Encodage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B45"/>
                </a:solidFill>
              </a:rPr>
              <a:t>Ordinal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6517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80"/>
                </a:solidFill>
              </a:rPr>
              <a:t>stops → 0 / 1 /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6080"/>
                </a:solidFill>
              </a:rPr>
              <a:t>horaires → 1 à 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6312" y="1097280"/>
            <a:ext cx="1920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96312" y="1097280"/>
            <a:ext cx="1920240" cy="45720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36392" y="13258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4A7A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87752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5"/>
                </a:solidFill>
              </a:rPr>
              <a:t>Encodage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B45"/>
                </a:solidFill>
              </a:rPr>
              <a:t>One-Hot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87752" y="26517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80"/>
                </a:solidFill>
              </a:rPr>
              <a:t>airline, source_city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6080"/>
                </a:solidFill>
              </a:rPr>
              <a:t>dest_city, class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72584" y="1097280"/>
            <a:ext cx="1920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72584" y="1097280"/>
            <a:ext cx="1920240" cy="457200"/>
          </a:xfrm>
          <a:prstGeom prst="rect">
            <a:avLst/>
          </a:prstGeom>
          <a:solidFill>
            <a:srgbClr val="F4882A"/>
          </a:solidFill>
          <a:ln w="12700">
            <a:solidFill>
              <a:srgbClr val="F488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12664" y="13258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12664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882A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64024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5"/>
                </a:solidFill>
              </a:rPr>
              <a:t>Suppression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B45"/>
                </a:solidFill>
              </a:rPr>
              <a:t>col. inutiles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64024" y="26517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80"/>
                </a:solidFill>
              </a:rPr>
              <a:t>flight (1 561 val.)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6080"/>
                </a:solidFill>
              </a:rPr>
              <a:t>id (identifiant)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48856" y="1097280"/>
            <a:ext cx="1920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48856" y="1097280"/>
            <a:ext cx="1920240" cy="457200"/>
          </a:xfrm>
          <a:prstGeom prst="rect">
            <a:avLst/>
          </a:prstGeom>
          <a:solidFill>
            <a:srgbClr val="1A8A5A"/>
          </a:solidFill>
          <a:ln w="12700">
            <a:solidFill>
              <a:srgbClr val="1A8A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88936" y="13258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88936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8A5A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40296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5"/>
                </a:solidFill>
              </a:rPr>
              <a:t>Split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B45"/>
                </a:solidFill>
              </a:rPr>
              <a:t>Train / Test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40296" y="26517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80"/>
                </a:solidFill>
              </a:rPr>
              <a:t>80% Train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6080"/>
                </a:solidFill>
              </a:rPr>
              <a:t>20% Test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40280" y="2514600"/>
            <a:ext cx="256032" cy="0"/>
          </a:xfrm>
          <a:prstGeom prst="line">
            <a:avLst/>
          </a:prstGeom>
          <a:noFill/>
          <a:ln w="19050">
            <a:solidFill>
              <a:srgbClr val="B0C4D8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416552" y="2514600"/>
            <a:ext cx="256032" cy="0"/>
          </a:xfrm>
          <a:prstGeom prst="line">
            <a:avLst/>
          </a:prstGeom>
          <a:noFill/>
          <a:ln w="19050">
            <a:solidFill>
              <a:srgbClr val="B0C4D8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592824" y="2514600"/>
            <a:ext cx="256032" cy="0"/>
          </a:xfrm>
          <a:prstGeom prst="line">
            <a:avLst/>
          </a:prstGeom>
          <a:noFill/>
          <a:ln w="19050">
            <a:solidFill>
              <a:srgbClr val="B0C4D8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320040" y="4206240"/>
            <a:ext cx="8503920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2F80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2611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7A"/>
                </a:solidFill>
              </a:rPr>
              <a:t>Résultat final du preprocessing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453542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5"/>
                </a:solidFill>
              </a:rPr>
              <a:t>Dataset encodé prêt pour la modélisation · Aucune valeur manquante · Variables normalisées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🤖  Modélisation &amp; Résultats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20624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F80C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4206240" cy="475488"/>
          </a:xfrm>
          <a:prstGeom prst="rect">
            <a:avLst/>
          </a:prstGeom>
          <a:solidFill>
            <a:srgbClr val="2F80C5"/>
          </a:solidFill>
          <a:ln w="12700">
            <a:solidFill>
              <a:srgbClr val="2F80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🏆  Random Forest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64208"/>
            <a:ext cx="384048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37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080"/>
                </a:solidFill>
              </a:rPr>
              <a:t>MAE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57400" y="17373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8A5A"/>
                </a:solidFill>
              </a:rPr>
              <a:t>1 083 INR (9.79 Euro)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258568"/>
            <a:ext cx="3840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31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080"/>
                </a:solidFill>
              </a:rPr>
              <a:t>RMSE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57400" y="2331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5"/>
                </a:solidFill>
              </a:rPr>
              <a:t>2 786 INR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852928"/>
            <a:ext cx="384048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260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080"/>
                </a:solidFill>
              </a:rPr>
              <a:t>R²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57400" y="29260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8A5A"/>
                </a:solidFill>
              </a:rPr>
              <a:t>98.49 %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502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080"/>
                </a:solidFill>
              </a:rPr>
              <a:t>n_estimators=100 · random_state=42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1051560"/>
            <a:ext cx="4206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051560"/>
            <a:ext cx="4206240" cy="475488"/>
          </a:xfrm>
          <a:prstGeom prst="rect">
            <a:avLst/>
          </a:prstGeom>
          <a:solidFill>
            <a:srgbClr val="F4882A"/>
          </a:solidFill>
          <a:ln w="12700">
            <a:solidFill>
              <a:srgbClr val="F488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07899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XGBoost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37760" y="1664208"/>
            <a:ext cx="384048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1" name="Text 19"/>
          <p:cNvSpPr/>
          <p:nvPr/>
        </p:nvSpPr>
        <p:spPr>
          <a:xfrm>
            <a:off x="5074920" y="1737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080"/>
                </a:solidFill>
              </a:rPr>
              <a:t>MAE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17373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5"/>
                </a:solidFill>
              </a:rPr>
              <a:t>2 </a:t>
            </a:r>
            <a:r>
              <a:rPr lang="en-US" sz="1300" b="1">
                <a:solidFill>
                  <a:srgbClr val="1A2B45"/>
                </a:solidFill>
              </a:rPr>
              <a:t>332 INR (21.09 Euro)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37760" y="2258568"/>
            <a:ext cx="3840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331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080"/>
                </a:solidFill>
              </a:rPr>
              <a:t>RMSE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2331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5"/>
                </a:solidFill>
              </a:rPr>
              <a:t>4 109 INR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37760" y="2852928"/>
            <a:ext cx="384048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29260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080"/>
                </a:solidFill>
              </a:rPr>
              <a:t>R²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29260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5"/>
                </a:solidFill>
              </a:rPr>
              <a:t>96.73 %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7760" y="3502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080"/>
                </a:solidFill>
              </a:rPr>
              <a:t>n_estimators=100 · lr=0.1 · max_depth=6</a:t>
            </a:r>
            <a:endParaRPr lang="en-US" sz="90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320040" y="3886200"/>
          <a:ext cx="8503920" cy="1051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1A4A7A">
              <a:alpha val="25000"/>
            </a:srgbClr>
          </a:solidFill>
          <a:ln w="12700">
            <a:solidFill>
              <a:srgbClr val="1A4A7A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F80C5">
              <a:alpha val="20000"/>
            </a:srgbClr>
          </a:solidFill>
          <a:ln w="12700">
            <a:solidFill>
              <a:srgbClr val="2F80C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882A"/>
          </a:solidFill>
          <a:ln w="12700">
            <a:solidFill>
              <a:srgbClr val="F488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🏁  Conclusion &amp; Bilan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5029200" cy="1143000"/>
          </a:xfrm>
          <a:prstGeom prst="rect">
            <a:avLst/>
          </a:prstGeom>
          <a:solidFill>
            <a:srgbClr val="1A8A5A">
              <a:alpha val="85000"/>
            </a:srgbClr>
          </a:solidFill>
          <a:ln w="19050">
            <a:solidFill>
              <a:srgbClr val="1A8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875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🏆  Meilleur modèle : Random Forest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MAE = 1 083 INR  ·  R² = 98.49 %  ·  Objectif métier atteint 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194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882A"/>
                </a:solidFill>
              </a:rPr>
              <a:t>Points clés 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257860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📌  La compagnie a un impact fort sur le prix (ANOVA, p=0.000)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298094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📌  Durée du vol corrélée positivement au prix (r = 0.288)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320" y="33832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📌  Encodage ordinal pour stops &amp; horaires, One-Hot pour les nominaux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378561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📌  Random Forest surpasse XGBoost sur MAE et RMSE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0" y="914400"/>
            <a:ext cx="3200400" cy="1737360"/>
          </a:xfrm>
          <a:prstGeom prst="rect">
            <a:avLst/>
          </a:prstGeom>
          <a:solidFill>
            <a:srgbClr val="1A4A7A">
              <a:alpha val="70000"/>
            </a:srgbClr>
          </a:solidFill>
          <a:ln w="12700">
            <a:solidFill>
              <a:srgbClr val="2F80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10972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4882A"/>
                </a:solidFill>
              </a:rPr>
              <a:t>98.5%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5669280" y="1938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R² Score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0" y="2240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F4FD"/>
                </a:solidFill>
              </a:rPr>
              <a:t>Random Forest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2926080"/>
            <a:ext cx="3200400" cy="1737360"/>
          </a:xfrm>
          <a:prstGeom prst="rect">
            <a:avLst/>
          </a:prstGeom>
          <a:solidFill>
            <a:srgbClr val="1A4A7A">
              <a:alpha val="70000"/>
            </a:srgbClr>
          </a:solidFill>
          <a:ln w="12700">
            <a:solidFill>
              <a:srgbClr val="2F80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31089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4882A"/>
                </a:solidFill>
              </a:rPr>
              <a:t>1 083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5669280" y="3950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MAE (INR)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0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F4FD"/>
                </a:solidFill>
              </a:rPr>
              <a:t>Erreur moyenne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7548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</a:rPr>
              <a:t>Machine Learning · Prédiction du Prix des Billets d'Avion  |  Dataset: 300 153 réservations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510</Words>
  <Application>Microsoft Office PowerPoint</Application>
  <PresentationFormat>On-screen Show (16:9)</PresentationFormat>
  <Paragraphs>117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— Prédiction du Prix des Billets d'Avion</dc:title>
  <dc:subject>PptxGenJS Presentation</dc:subject>
  <dc:creator>PptxGenJS</dc:creator>
  <cp:lastModifiedBy>Mostapha m'bairik</cp:lastModifiedBy>
  <cp:revision>3</cp:revision>
  <dcterms:created xsi:type="dcterms:W3CDTF">2026-04-25T13:18:36Z</dcterms:created>
  <dcterms:modified xsi:type="dcterms:W3CDTF">2026-04-28T15:25:26Z</dcterms:modified>
</cp:coreProperties>
</file>